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charts/chart2.xml" ContentType="application/vnd.openxmlformats-officedocument.drawingml.chart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Annual recovery</c:v>
                </c:pt>
              </c:strCache>
            </c:strRef>
          </c:tx>
          <c:spPr>
            <a:solidFill>
              <a:srgbClr val="D97706"/>
            </a:solidFill>
            <a:effectLst/>
          </c:spPr>
          <c:invertIfNegative val="0"/>
          <c:dLbls>
            <c:numFmt formatCode="$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F17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Reduced overtime</c:v>
                  </c:pt>
                  <c:pt idx="1">
                    <c:v>Lower driver turnover</c:v>
                  </c:pt>
                  <c:pt idx="2">
                    <c:v>Better incentive attainment</c:v>
                  </c:pt>
                  <c:pt idx="3">
                    <c:v>Recovered chargebacks</c:v>
                  </c:pt>
                  <c:pt idx="4">
                    <c:v>Fuel &amp; vehicle savings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40000</c:v>
                </c:pt>
                <c:pt idx="1">
                  <c:v>75000</c:v>
                </c:pt>
                <c:pt idx="2">
                  <c:v>50000</c:v>
                </c:pt>
                <c:pt idx="3">
                  <c:v>20000</c:v>
                </c:pt>
                <c:pt idx="4">
                  <c:v>12000</c:v>
                </c:pt>
              </c:numCache>
            </c:numRef>
          </c:val>
        </c:ser>
        <c:dLbls>
          <c:numFmt formatCode="$#,##0" sourceLinked="0"/>
          <c:txPr>
            <a:bodyPr/>
            <a:lstStyle/>
            <a:p>
              <a:pPr>
                <a:defRPr b="0" i="0" strike="noStrike" sz="900" u="none">
                  <a:solidFill>
                    <a:srgbClr val="0F172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F172A"/>
                </a:solidFill>
                <a:latin typeface="Arial"/>
              </a:defRPr>
            </a:pPr>
            <a:r>
              <a:rPr sz="1200" b="0" i="0" u="none" strike="noStrike">
                <a:solidFill>
                  <a:srgbClr val="0F172A"/>
                </a:solidFill>
                <a:latin typeface="Arial"/>
              </a:rPr>
              <a:t>Projected Annual Recurring Revenue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ARR ($K)</c:v>
                </c:pt>
              </c:strCache>
            </c:strRef>
          </c:tx>
          <c:spPr>
            <a:solidFill>
              <a:srgbClr val="D97706"/>
            </a:solidFill>
            <a:effectLst/>
          </c:spPr>
          <c:invertIfNegative val="0"/>
          <c:dLbls>
            <c:numFmt formatCode="$#,##0&quot;K&quot;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F17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Year 1</c:v>
                  </c:pt>
                  <c:pt idx="1">
                    <c:v>Year 2</c:v>
                  </c:pt>
                  <c:pt idx="2">
                    <c:v>Year 3</c:v>
                  </c:pt>
                  <c:pt idx="3">
                    <c:v>Year 4</c:v>
                  </c:pt>
                  <c:pt idx="4">
                    <c:v>Year 5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108</c:v>
                </c:pt>
                <c:pt idx="1">
                  <c:v>540</c:v>
                </c:pt>
                <c:pt idx="2">
                  <c:v>1620</c:v>
                </c:pt>
                <c:pt idx="3">
                  <c:v>3240</c:v>
                </c:pt>
                <c:pt idx="4">
                  <c:v>5400</c:v>
                </c:pt>
              </c:numCache>
            </c:numRef>
          </c:val>
        </c:ser>
        <c:dLbls>
          <c:numFmt formatCode="$#,##0&quot;K&quot;" sourceLinked="0"/>
          <c:txPr>
            <a:bodyPr/>
            <a:lstStyle/>
            <a:p>
              <a:pPr>
                <a:defRPr b="0" i="0" strike="noStrike" sz="900" u="none">
                  <a:solidFill>
                    <a:srgbClr val="0F172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320040" cy="3200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4572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SOFTWARE PITCH  ·  BUILT FOR AN AMAZON DSP IN ARIZONA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b="1" spc="8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OPERATOR</a:t>
            </a:r>
            <a:endParaRPr lang="en-US" sz="8800" dirty="0"/>
          </a:p>
        </p:txBody>
      </p:sp>
      <p:sp>
        <p:nvSpPr>
          <p:cNvPr id="5" name="Text 3"/>
          <p:cNvSpPr/>
          <p:nvPr/>
        </p:nvSpPr>
        <p:spPr>
          <a:xfrm>
            <a:off x="457200" y="26974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BD5E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single pane of glass for every dollar, hour, and mile your DSP burns.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4114800"/>
            <a:ext cx="1097280" cy="0"/>
          </a:xfrm>
          <a:prstGeom prst="line">
            <a:avLst/>
          </a:prstGeom>
          <a:noFill/>
          <a:ln w="25400">
            <a:solidFill>
              <a:srgbClr val="D9770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4297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review.  Pitch · v1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REALITY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an Amazon DSP actually looks like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325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friend isn't running a small business — he's running a logistics operation with industrial-scale labor and fleet costs, on margins that punish small mistakes.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2057400"/>
            <a:ext cx="2606040" cy="114300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2057400"/>
            <a:ext cx="64008" cy="11430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2221992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24128" y="2167128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$1M–$4.5M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685800" y="265176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revenue per DSP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227832" y="2057400"/>
            <a:ext cx="2606040" cy="114300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227832" y="2057400"/>
            <a:ext cx="64008" cy="11430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6432" y="2221992"/>
            <a:ext cx="274320" cy="2743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794760" y="2167128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20–40</a:t>
            </a:r>
            <a:endParaRPr lang="en-US" sz="2000" dirty="0"/>
          </a:p>
        </p:txBody>
      </p:sp>
      <p:sp>
        <p:nvSpPr>
          <p:cNvPr id="14" name="Text 10"/>
          <p:cNvSpPr/>
          <p:nvPr/>
        </p:nvSpPr>
        <p:spPr>
          <a:xfrm>
            <a:off x="3456432" y="265176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Branded vans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5998464" y="2057400"/>
            <a:ext cx="2606040" cy="114300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5998464" y="2057400"/>
            <a:ext cx="64008" cy="11430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7064" y="2221992"/>
            <a:ext cx="274320" cy="27432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565392" y="2167128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40–100</a:t>
            </a:r>
            <a:endParaRPr lang="en-US" sz="2000" dirty="0"/>
          </a:p>
        </p:txBody>
      </p:sp>
      <p:sp>
        <p:nvSpPr>
          <p:cNvPr id="19" name="Text 14"/>
          <p:cNvSpPr/>
          <p:nvPr/>
        </p:nvSpPr>
        <p:spPr>
          <a:xfrm>
            <a:off x="6227064" y="265176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associates (W-2)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457200" y="3364992"/>
            <a:ext cx="2606040" cy="114300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457200" y="3364992"/>
            <a:ext cx="64008" cy="11430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3529584"/>
            <a:ext cx="274320" cy="27432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024128" y="347472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55–70%</a:t>
            </a:r>
            <a:endParaRPr lang="en-US" sz="2000" dirty="0"/>
          </a:p>
        </p:txBody>
      </p:sp>
      <p:sp>
        <p:nvSpPr>
          <p:cNvPr id="24" name="Text 18"/>
          <p:cNvSpPr/>
          <p:nvPr/>
        </p:nvSpPr>
        <p:spPr>
          <a:xfrm>
            <a:off x="685800" y="3959352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revenue spent on labor</a:t>
            </a:r>
            <a:endParaRPr lang="en-US" sz="1100" dirty="0"/>
          </a:p>
        </p:txBody>
      </p:sp>
      <p:sp>
        <p:nvSpPr>
          <p:cNvPr id="25" name="Shape 19"/>
          <p:cNvSpPr/>
          <p:nvPr/>
        </p:nvSpPr>
        <p:spPr>
          <a:xfrm>
            <a:off x="3227832" y="3364992"/>
            <a:ext cx="2606040" cy="114300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3227832" y="3364992"/>
            <a:ext cx="64008" cy="11430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56432" y="3529584"/>
            <a:ext cx="274320" cy="27432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3794760" y="347472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80–150%</a:t>
            </a:r>
            <a:endParaRPr lang="en-US" sz="2000" dirty="0"/>
          </a:p>
        </p:txBody>
      </p:sp>
      <p:sp>
        <p:nvSpPr>
          <p:cNvPr id="29" name="Text 22"/>
          <p:cNvSpPr/>
          <p:nvPr/>
        </p:nvSpPr>
        <p:spPr>
          <a:xfrm>
            <a:off x="3456432" y="3959352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driver turnover</a:t>
            </a:r>
            <a:endParaRPr lang="en-US" sz="1100" dirty="0"/>
          </a:p>
        </p:txBody>
      </p:sp>
      <p:sp>
        <p:nvSpPr>
          <p:cNvPr id="30" name="Shape 23"/>
          <p:cNvSpPr/>
          <p:nvPr/>
        </p:nvSpPr>
        <p:spPr>
          <a:xfrm>
            <a:off x="5998464" y="3364992"/>
            <a:ext cx="2606040" cy="114300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31" name="Shape 24"/>
          <p:cNvSpPr/>
          <p:nvPr/>
        </p:nvSpPr>
        <p:spPr>
          <a:xfrm>
            <a:off x="5998464" y="3364992"/>
            <a:ext cx="64008" cy="11430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27064" y="3529584"/>
            <a:ext cx="274320" cy="274320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6565392" y="347472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5–10%</a:t>
            </a:r>
            <a:endParaRPr lang="en-US" sz="2000" dirty="0"/>
          </a:p>
        </p:txBody>
      </p:sp>
      <p:sp>
        <p:nvSpPr>
          <p:cNvPr id="34" name="Text 26"/>
          <p:cNvSpPr/>
          <p:nvPr/>
        </p:nvSpPr>
        <p:spPr>
          <a:xfrm>
            <a:off x="6227064" y="3959352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net margin</a:t>
            </a:r>
            <a:endParaRPr lang="en-US" sz="1100" dirty="0"/>
          </a:p>
        </p:txBody>
      </p:sp>
      <p:sp>
        <p:nvSpPr>
          <p:cNvPr id="35" name="Text 27"/>
          <p:cNvSpPr/>
          <p:nvPr/>
        </p:nvSpPr>
        <p:spPr>
          <a:xfrm>
            <a:off x="457200" y="45720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Amazon DSP program disclosures · Steph's Books DSP Bookkeeping Guide (2025) · Bloomberg / Insurance Journal (Oct 2025)</a:t>
            </a:r>
            <a:endParaRPr lang="en-US" sz="900" dirty="0"/>
          </a:p>
        </p:txBody>
      </p:sp>
      <p:sp>
        <p:nvSpPr>
          <p:cNvPr id="36" name="Text 28"/>
          <p:cNvSpPr/>
          <p:nvPr/>
        </p:nvSpPr>
        <p:spPr>
          <a:xfrm>
            <a:off x="457200" y="48463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 ·  DSP Owner Platform</a:t>
            </a:r>
            <a:endParaRPr lang="en-US" sz="900" dirty="0"/>
          </a:p>
        </p:txBody>
      </p:sp>
      <p:sp>
        <p:nvSpPr>
          <p:cNvPr id="37" name="Text 29"/>
          <p:cNvSpPr/>
          <p:nvPr/>
        </p:nvSpPr>
        <p:spPr>
          <a:xfrm>
            <a:off x="8229600" y="48463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VISIBILITY PROBLEM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$80,000 → $200,000 take-home. Same 25 routes.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4114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25-route DSP doing $3.2M in revenue was netting the owner $80K a year. They didn't have a revenue problem. They had a visibility problem.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2468880"/>
            <a:ext cx="4114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their books were structured to track settlements by component, payroll by driver, vehicles by unit, and insurance by policy, they found $127,000 already sitting there — recoverable.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45262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Steph's Books, "Amazon DSP Bookkeeping Guide" (2025)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937760" y="1325880"/>
            <a:ext cx="3749040" cy="3383280"/>
          </a:xfrm>
          <a:prstGeom prst="rect">
            <a:avLst/>
          </a:prstGeom>
          <a:solidFill>
            <a:srgbClr val="0F1B3C"/>
          </a:solidFill>
          <a:ln w="12700">
            <a:solidFill>
              <a:srgbClr val="0F1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120640" y="14630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$127K WAS HIDING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120640" y="18288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$48,000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537960" y="1865376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Overtime, eliminated through better staffing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120640" y="239572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$34,000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537960" y="2432304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Disputed chargebacks recovered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120640" y="2962656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$29,000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537960" y="2999232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 savings from shopping policies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120640" y="3529584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$16,000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537960" y="356616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Fuel card abuse caught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120640" y="4160520"/>
            <a:ext cx="3383280" cy="4114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120640" y="416052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0F1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RECOVERED:  $127,000 / YEAR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7200" y="48463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 ·  DSP Owner Platform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8229600" y="48463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LEAKS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Five places profit walks out the door — every week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1627632" cy="274320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417320"/>
            <a:ext cx="1627632" cy="731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618488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94360" y="1984248"/>
            <a:ext cx="13533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Driver turnover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94360" y="2496312"/>
            <a:ext cx="13533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80–150% / yr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94360" y="2862072"/>
            <a:ext cx="135331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replacement costs $3,000–$5,000 fully loaded. A 60-driver DSP can lose $160K–$245K/yr to churn, buried across recruiting, training, and lost productivity.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2203704" y="1417320"/>
            <a:ext cx="1627632" cy="274320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203704" y="1417320"/>
            <a:ext cx="1627632" cy="731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0864" y="1618488"/>
            <a:ext cx="292608" cy="2926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340864" y="1984248"/>
            <a:ext cx="13533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Hours-to-Budget creep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2340864" y="2496312"/>
            <a:ext cx="13533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 = 60–70% of expense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2340864" y="2862072"/>
            <a:ext cx="135331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your timecard hours exceed Amazon's compensated hours, profit dies. Most owners only see this monthly, after the bleed has happened.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3950208" y="1417320"/>
            <a:ext cx="1627632" cy="274320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3950208" y="1417320"/>
            <a:ext cx="1627632" cy="731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7368" y="1618488"/>
            <a:ext cx="292608" cy="29260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4087368" y="1984248"/>
            <a:ext cx="13533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Missed disputes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4087368" y="2496312"/>
            <a:ext cx="13533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7–14 day window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4087368" y="2862072"/>
            <a:ext cx="135331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Disciplined chargeback dispute filing recovers $5K–$15K/yr per DSP. The window is tight; most owners miss it because nothing pings them.</a:t>
            </a:r>
            <a:endParaRPr lang="en-US" sz="950" dirty="0"/>
          </a:p>
        </p:txBody>
      </p:sp>
      <p:sp>
        <p:nvSpPr>
          <p:cNvPr id="22" name="Shape 17"/>
          <p:cNvSpPr/>
          <p:nvPr/>
        </p:nvSpPr>
        <p:spPr>
          <a:xfrm>
            <a:off x="5696712" y="1417320"/>
            <a:ext cx="1627632" cy="274320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5696712" y="1417320"/>
            <a:ext cx="1627632" cy="731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33872" y="1618488"/>
            <a:ext cx="292608" cy="292608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5833872" y="1984248"/>
            <a:ext cx="13533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Scorecard misses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5833872" y="2496312"/>
            <a:ext cx="13533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 revenue = #1 lever</a:t>
            </a:r>
            <a:endParaRPr lang="en-US" sz="1100" dirty="0"/>
          </a:p>
        </p:txBody>
      </p:sp>
      <p:sp>
        <p:nvSpPr>
          <p:cNvPr id="27" name="Text 21"/>
          <p:cNvSpPr/>
          <p:nvPr/>
        </p:nvSpPr>
        <p:spPr>
          <a:xfrm>
            <a:off x="5833872" y="2862072"/>
            <a:ext cx="135331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rolling 13-week incentive attainment correlates ~1:1 with year-end net margin. Miss Fantastic by one bad week and the bonus drops a tier.</a:t>
            </a:r>
            <a:endParaRPr lang="en-US" sz="950" dirty="0"/>
          </a:p>
        </p:txBody>
      </p:sp>
      <p:sp>
        <p:nvSpPr>
          <p:cNvPr id="28" name="Shape 22"/>
          <p:cNvSpPr/>
          <p:nvPr/>
        </p:nvSpPr>
        <p:spPr>
          <a:xfrm>
            <a:off x="7443216" y="1417320"/>
            <a:ext cx="1627632" cy="274320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7443216" y="1417320"/>
            <a:ext cx="1627632" cy="731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80376" y="1618488"/>
            <a:ext cx="292608" cy="292608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7580376" y="1984248"/>
            <a:ext cx="13533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Fleet &amp; fuel drift</a:t>
            </a:r>
            <a:endParaRPr lang="en-US" sz="1300" dirty="0"/>
          </a:p>
        </p:txBody>
      </p:sp>
      <p:sp>
        <p:nvSpPr>
          <p:cNvPr id="32" name="Text 25"/>
          <p:cNvSpPr/>
          <p:nvPr/>
        </p:nvSpPr>
        <p:spPr>
          <a:xfrm>
            <a:off x="7580376" y="2496312"/>
            <a:ext cx="13533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$30–$45 / van / day in fuel</a:t>
            </a:r>
            <a:endParaRPr lang="en-US" sz="1100" dirty="0"/>
          </a:p>
        </p:txBody>
      </p:sp>
      <p:sp>
        <p:nvSpPr>
          <p:cNvPr id="33" name="Text 26"/>
          <p:cNvSpPr/>
          <p:nvPr/>
        </p:nvSpPr>
        <p:spPr>
          <a:xfrm>
            <a:off x="7580376" y="2862072"/>
            <a:ext cx="135331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Fuel-card abuse, off-route mileage, missed PMs, and idle time silently erode margin. Vehicle costs run 15–22% of revenue.</a:t>
            </a:r>
            <a:endParaRPr lang="en-US" sz="950" dirty="0"/>
          </a:p>
        </p:txBody>
      </p:sp>
      <p:sp>
        <p:nvSpPr>
          <p:cNvPr id="34" name="Text 27"/>
          <p:cNvSpPr/>
          <p:nvPr/>
        </p:nvSpPr>
        <p:spPr>
          <a:xfrm>
            <a:off x="457200" y="4297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five are measurable in real time. Today, none of them are — most DSPs see the damage after settlement on Wednesday.</a:t>
            </a:r>
            <a:endParaRPr lang="en-US" sz="1100" dirty="0"/>
          </a:p>
        </p:txBody>
      </p:sp>
      <p:sp>
        <p:nvSpPr>
          <p:cNvPr id="35" name="Text 28"/>
          <p:cNvSpPr/>
          <p:nvPr/>
        </p:nvSpPr>
        <p:spPr>
          <a:xfrm>
            <a:off x="457200" y="48463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 ·  DSP Owner Platform</a:t>
            </a:r>
            <a:endParaRPr lang="en-US" sz="900" dirty="0"/>
          </a:p>
        </p:txBody>
      </p:sp>
      <p:sp>
        <p:nvSpPr>
          <p:cNvPr id="36" name="Text 29"/>
          <p:cNvSpPr/>
          <p:nvPr/>
        </p:nvSpPr>
        <p:spPr>
          <a:xfrm>
            <a:off x="8229600" y="48463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VOICES FROM THE FIELD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other DSP owners are saying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3977640" cy="150876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37160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D977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914400" y="1581912"/>
            <a:ext cx="3383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Profits are dwindling owing to rising costs for insurance and vehicle maintenance, even as Amazon tightens performance metrics that determine how much they earn.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14400" y="246888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Bloomberg, on DSP owners exiting the program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914400" y="2679192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 Journal, Oct 2025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617720" y="1417320"/>
            <a:ext cx="3977640" cy="150876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09160" y="137160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D977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5074920" y="1581912"/>
            <a:ext cx="3383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driver turnover is about 90 days. It's kinda like a revolving door.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74920" y="246888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David Leland, CEO, GroundCloud (routing software)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074920" y="2679192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Business, June 2021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" y="3108960"/>
            <a:ext cx="3977640" cy="150876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306324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D977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914400" y="3273552"/>
            <a:ext cx="3383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hundreds of DSPs, there is often a near-equal correlation between incentive revenue and net margin at the close of a year.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14400" y="416052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HQ, DSP financial advisory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914400" y="4370832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"Stop Profit Leaks" report, March 2025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617720" y="3108960"/>
            <a:ext cx="3977640" cy="150876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09160" y="306324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D977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3600" dirty="0"/>
          </a:p>
        </p:txBody>
      </p:sp>
      <p:sp>
        <p:nvSpPr>
          <p:cNvPr id="21" name="Text 19"/>
          <p:cNvSpPr/>
          <p:nvPr/>
        </p:nvSpPr>
        <p:spPr>
          <a:xfrm>
            <a:off x="5074920" y="3273552"/>
            <a:ext cx="3383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time Amazon's weekly scorecard lands, it is too late to fix problems. Top DSPs monitor key metrics daily.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074920" y="416052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Zerity, UK DSP performance consultancy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074920" y="4370832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Fantastic+ Scorecard guide, March 2026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57200" y="48463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 ·  DSP Owner Platform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229600" y="48463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MARKET TODAY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Lots of tools. None of them are the owner's cockpit.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EXISTS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4114800" cy="41148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73736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Hera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194560" y="175564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Parses scorecard PDFs, tracks performance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2194560"/>
            <a:ext cx="4114800" cy="41148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22402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GroundCloud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194560" y="225856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 safety training, telematics coaching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2697480"/>
            <a:ext cx="4114800" cy="41148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27432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LMD Max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194560" y="276148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 scheduling, time-theft, payroll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3200400"/>
            <a:ext cx="4114800" cy="41148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32461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Steph's Books / Go HQ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194560" y="326440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Outsourced bookkeeping &amp; virtual CFO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3703320"/>
            <a:ext cx="4114800" cy="41148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37490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Cortex / Mentor / Netradyne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194560" y="376732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Amazon-mandated tools — operational data sources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937760" y="1325880"/>
            <a:ext cx="3749040" cy="3383280"/>
          </a:xfrm>
          <a:prstGeom prst="rect">
            <a:avLst/>
          </a:prstGeom>
          <a:solidFill>
            <a:srgbClr val="0F1B3C"/>
          </a:solidFill>
          <a:ln w="12700">
            <a:solidFill>
              <a:srgbClr val="0F1B3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120640" y="14630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120640" y="178308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one connects what's happening on the ground to what's happening on the P&amp;L — in real time.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120640" y="274320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Owners stitch it together every Wednesday with spreadsheets, scorecard PDFs, and gut feel.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120640" y="3520440"/>
            <a:ext cx="914400" cy="0"/>
          </a:xfrm>
          <a:prstGeom prst="line">
            <a:avLst/>
          </a:prstGeom>
          <a:noFill/>
          <a:ln w="25400">
            <a:solidFill>
              <a:srgbClr val="D9770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120640" y="370332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Operator closes that gap.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120640" y="411480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financial truth + live operations. One screen. One source.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57200" y="48463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 ·  DSP Owner Platform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8229600" y="48463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we're building, in three moves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2743200" cy="310896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60020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4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06040" y="164592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219456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SEE</a:t>
            </a:r>
            <a:endParaRPr lang="en-US" sz="3800" dirty="0"/>
          </a:p>
        </p:txBody>
      </p:sp>
      <p:sp>
        <p:nvSpPr>
          <p:cNvPr id="8" name="Text 5"/>
          <p:cNvSpPr/>
          <p:nvPr/>
        </p:nvSpPr>
        <p:spPr>
          <a:xfrm>
            <a:off x="685800" y="28346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visibility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85800" y="3200400"/>
            <a:ext cx="2286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dollar, every hour, every mile — flowing from the actual systems your DSP already runs on, into one live dashboard. No spreadsheets, no end-of-week surprise.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429000" y="1417320"/>
            <a:ext cx="2743200" cy="3108960"/>
          </a:xfrm>
          <a:prstGeom prst="rect">
            <a:avLst/>
          </a:prstGeom>
          <a:solidFill>
            <a:srgbClr val="0F1B3C"/>
          </a:solidFill>
          <a:ln w="9525">
            <a:solidFill>
              <a:srgbClr val="0F1B3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657600" y="160020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4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0" y="1645920"/>
            <a:ext cx="365760" cy="3657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657600" y="219456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SPOT</a:t>
            </a:r>
            <a:endParaRPr lang="en-US" sz="3800" dirty="0"/>
          </a:p>
        </p:txBody>
      </p:sp>
      <p:sp>
        <p:nvSpPr>
          <p:cNvPr id="14" name="Text 10"/>
          <p:cNvSpPr/>
          <p:nvPr/>
        </p:nvSpPr>
        <p:spPr>
          <a:xfrm>
            <a:off x="3657600" y="28346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Anomalies &amp; drift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3657600" y="3200400"/>
            <a:ext cx="2286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Drivers heading to overtime today. Vans past PM. Scorecard metrics trending out of Fantastic. Chargebacks still in the dispute window. The system pings you before they cost money.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6400800" y="1417320"/>
            <a:ext cx="2743200" cy="310896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6629400" y="160020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400" dirty="0"/>
          </a:p>
        </p:txBody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9640" y="1645920"/>
            <a:ext cx="365760" cy="36576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629400" y="219456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SAVE</a:t>
            </a:r>
            <a:endParaRPr lang="en-US" sz="3800" dirty="0"/>
          </a:p>
        </p:txBody>
      </p:sp>
      <p:sp>
        <p:nvSpPr>
          <p:cNvPr id="20" name="Text 15"/>
          <p:cNvSpPr/>
          <p:nvPr/>
        </p:nvSpPr>
        <p:spPr>
          <a:xfrm>
            <a:off x="6629400" y="28346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Acted on, not just shown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6629400" y="3200400"/>
            <a:ext cx="2286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One-click chargeback dispute filing. Auto-flagged fuel-card anomalies. Recommended schedule changes that hit Hours-to-Budget. The platform doesn't just diagnose — it closes loops.</a:t>
            </a:r>
            <a:endParaRPr lang="en-US" sz="1050" dirty="0"/>
          </a:p>
        </p:txBody>
      </p:sp>
      <p:sp>
        <p:nvSpPr>
          <p:cNvPr id="22" name="Text 17"/>
          <p:cNvSpPr/>
          <p:nvPr/>
        </p:nvSpPr>
        <p:spPr>
          <a:xfrm>
            <a:off x="457200" y="48463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 ·  DSP Owner Platform</a:t>
            </a:r>
            <a:endParaRPr lang="en-US" sz="900" dirty="0"/>
          </a:p>
        </p:txBody>
      </p:sp>
      <p:sp>
        <p:nvSpPr>
          <p:cNvPr id="23" name="Text 18"/>
          <p:cNvSpPr/>
          <p:nvPr/>
        </p:nvSpPr>
        <p:spPr>
          <a:xfrm>
            <a:off x="8229600" y="48463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THE PLATFORM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Six modules, one cockpit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2697480" cy="150876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371600"/>
            <a:ext cx="64008" cy="150876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536192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51560" y="1490472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Financial Truth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58368" y="1938528"/>
            <a:ext cx="233172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P&amp;L by route, driver, and van. Settlement components tracked individually so you spot revenue gaps the day they happen — not 30 days later.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291840" y="1371600"/>
            <a:ext cx="2697480" cy="150876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291840" y="1371600"/>
            <a:ext cx="64008" cy="150876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3008" y="1536192"/>
            <a:ext cx="292608" cy="2926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886200" y="1490472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Labor Engine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3493008" y="1938528"/>
            <a:ext cx="233172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Hours-to-Budget tracked daily. Overtime alerts before drivers hit OT. Cortex punches reconciled to actual route hours so time-theft surfaces automatically.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6126480" y="1371600"/>
            <a:ext cx="2697480" cy="150876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126480" y="1371600"/>
            <a:ext cx="64008" cy="150876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7648" y="1536192"/>
            <a:ext cx="292608" cy="2926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720840" y="1490472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Driver Hub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6327648" y="1938528"/>
            <a:ext cx="233172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Roster, FICO trend, scorecard impact, and a retention-cost view per driver. See your true 90-day churn rate — and which coaching actions move it.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457200" y="3017520"/>
            <a:ext cx="2697480" cy="150876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457200" y="3017520"/>
            <a:ext cx="64008" cy="150876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" y="3182112"/>
            <a:ext cx="292608" cy="29260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051560" y="3136392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Fleet Health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658368" y="3584448"/>
            <a:ext cx="233172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Cost-per-mile per van. PM compliance countdown. Fuel-card anomaly flags. Downtime tracking so a van's true cost shows up next to its revenue.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3291840" y="3017520"/>
            <a:ext cx="2697480" cy="150876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3291840" y="3017520"/>
            <a:ext cx="64008" cy="150876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93008" y="3182112"/>
            <a:ext cx="292608" cy="29260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3886200" y="3136392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Settlement &amp; Disputes</a:t>
            </a:r>
            <a:endParaRPr lang="en-US" sz="1400" dirty="0"/>
          </a:p>
        </p:txBody>
      </p:sp>
      <p:sp>
        <p:nvSpPr>
          <p:cNvPr id="28" name="Text 21"/>
          <p:cNvSpPr/>
          <p:nvPr/>
        </p:nvSpPr>
        <p:spPr>
          <a:xfrm>
            <a:off x="3493008" y="3584448"/>
            <a:ext cx="233172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settlement parsed line-by-line. Chargebacks auto-flagged with the dispute-window deadline visible. POD, GPS, and timestamps attached for one-click filing.</a:t>
            </a:r>
            <a:endParaRPr lang="en-US" sz="1000" dirty="0"/>
          </a:p>
        </p:txBody>
      </p:sp>
      <p:sp>
        <p:nvSpPr>
          <p:cNvPr id="29" name="Shape 22"/>
          <p:cNvSpPr/>
          <p:nvPr/>
        </p:nvSpPr>
        <p:spPr>
          <a:xfrm>
            <a:off x="6126480" y="3017520"/>
            <a:ext cx="2697480" cy="150876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6126480" y="3017520"/>
            <a:ext cx="64008" cy="150876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27648" y="3182112"/>
            <a:ext cx="292608" cy="292608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6720840" y="3136392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Scorecard Optimizer</a:t>
            </a:r>
            <a:endParaRPr lang="en-US" sz="1400" dirty="0"/>
          </a:p>
        </p:txBody>
      </p:sp>
      <p:sp>
        <p:nvSpPr>
          <p:cNvPr id="33" name="Text 25"/>
          <p:cNvSpPr/>
          <p:nvPr/>
        </p:nvSpPr>
        <p:spPr>
          <a:xfrm>
            <a:off x="6327648" y="3584448"/>
            <a:ext cx="233172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Forecasts incentive tier (Fantastic / Great / Fair) and shows the 1–2 metrics most likely to drop you. Translates abstract scores into dollars at risk.</a:t>
            </a:r>
            <a:endParaRPr lang="en-US" sz="1000" dirty="0"/>
          </a:p>
        </p:txBody>
      </p:sp>
      <p:sp>
        <p:nvSpPr>
          <p:cNvPr id="34" name="Text 26"/>
          <p:cNvSpPr/>
          <p:nvPr/>
        </p:nvSpPr>
        <p:spPr>
          <a:xfrm>
            <a:off x="457200" y="45262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module is wired to live data — not weekly PDF uploads. The platform is the source of truth, not another report.</a:t>
            </a:r>
            <a:endParaRPr lang="en-US" sz="1000" dirty="0"/>
          </a:p>
        </p:txBody>
      </p:sp>
      <p:sp>
        <p:nvSpPr>
          <p:cNvPr id="35" name="Text 27"/>
          <p:cNvSpPr/>
          <p:nvPr/>
        </p:nvSpPr>
        <p:spPr>
          <a:xfrm>
            <a:off x="457200" y="48463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 ·  DSP Owner Platform</a:t>
            </a:r>
            <a:endParaRPr lang="en-US" sz="900" dirty="0"/>
          </a:p>
        </p:txBody>
      </p:sp>
      <p:sp>
        <p:nvSpPr>
          <p:cNvPr id="36" name="Text 28"/>
          <p:cNvSpPr/>
          <p:nvPr/>
        </p:nvSpPr>
        <p:spPr>
          <a:xfrm>
            <a:off x="8229600" y="48463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WE CONNECT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Operator gets its truth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931920" y="2468880"/>
            <a:ext cx="1280160" cy="914400"/>
          </a:xfrm>
          <a:prstGeom prst="rect">
            <a:avLst/>
          </a:prstGeom>
          <a:solidFill>
            <a:srgbClr val="0F1B3C"/>
          </a:solidFill>
          <a:ln w="12700">
            <a:solidFill>
              <a:srgbClr val="0F1B3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931920" y="2633472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OPERATOR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931920" y="29718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data layer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417320"/>
            <a:ext cx="3291840" cy="59436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584448" y="1650492"/>
            <a:ext cx="82296" cy="82296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1481328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Amazon DSP Console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21792" y="1728216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Scorecards, settlements, chargebacks, route counts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" y="2130552"/>
            <a:ext cx="3291840" cy="59436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584448" y="2363724"/>
            <a:ext cx="82296" cy="82296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1792" y="219456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eDriving Mentor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21792" y="2441448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FICO safety scores, harsh events, distractions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7200" y="2843784"/>
            <a:ext cx="3291840" cy="59436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584448" y="3076956"/>
            <a:ext cx="82296" cy="82296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1792" y="2907792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Netradyne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21792" y="315468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Telematics, EOC, Proper Parking, video events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57200" y="3557016"/>
            <a:ext cx="3291840" cy="59436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584448" y="3790188"/>
            <a:ext cx="82296" cy="82296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1792" y="3621024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Cortex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21792" y="3867912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 punches, route assignments, rescue logs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394960" y="1417320"/>
            <a:ext cx="3291840" cy="59436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486400" y="1650492"/>
            <a:ext cx="82296" cy="82296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87568" y="1481328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Payroll (ADP / Gusto / Paychex)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687568" y="1728216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Wages, OT, benefits, true loaded labor cost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394960" y="2130552"/>
            <a:ext cx="3291840" cy="59436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486400" y="2363724"/>
            <a:ext cx="82296" cy="82296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87568" y="219456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Fuel cards (WEX / AtoB / Fuelman)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5687568" y="2441448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Per-driver fuel use, anomalies, MPG by van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5394960" y="2843784"/>
            <a:ext cx="3291840" cy="59436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486400" y="3076956"/>
            <a:ext cx="82296" cy="82296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687568" y="2907792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QuickBooks / accounting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5687568" y="315468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other expenses, monthly P&amp;L close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5394960" y="3557016"/>
            <a:ext cx="3291840" cy="59436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486400" y="3790188"/>
            <a:ext cx="82296" cy="82296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87568" y="3621024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Insurance broker portal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5687568" y="3867912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policies, premium, renewal dates, claims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57200" y="45262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Read-only connections. PDF parsing where APIs don't exist (Amazon scorecards). Owner stays in control of credentials.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57200" y="48463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 ·  DSP Owner Platform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8229600" y="48463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MATH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the platform pays for itself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325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Modeled for a typical 25-route DSP doing ~$3.2M in annual revenue. Conservative midpoints from third-party DSP advisory data.</a:t>
            </a:r>
            <a:endParaRPr lang="en-US" sz="11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874520"/>
          <a:ext cx="4937760" cy="2468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5577840" y="1874520"/>
            <a:ext cx="3108960" cy="2468880"/>
          </a:xfrm>
          <a:prstGeom prst="rect">
            <a:avLst/>
          </a:prstGeom>
          <a:solidFill>
            <a:srgbClr val="0F1B3C"/>
          </a:solidFill>
          <a:ln w="12700">
            <a:solidFill>
              <a:srgbClr val="0F1B3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715000" y="201168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RECOVERY (MIDPOINT)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715000" y="2331720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$197,000</a:t>
            </a:r>
            <a:endParaRPr lang="en-US" sz="3600" dirty="0"/>
          </a:p>
        </p:txBody>
      </p:sp>
      <p:sp>
        <p:nvSpPr>
          <p:cNvPr id="9" name="Text 6"/>
          <p:cNvSpPr/>
          <p:nvPr/>
        </p:nvSpPr>
        <p:spPr>
          <a:xfrm>
            <a:off x="5715000" y="315468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year, on a $3.2M DSP.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715000" y="3611880"/>
            <a:ext cx="1097280" cy="0"/>
          </a:xfrm>
          <a:prstGeom prst="line">
            <a:avLst/>
          </a:prstGeom>
          <a:noFill/>
          <a:ln w="25400">
            <a:solidFill>
              <a:srgbClr val="D9770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715000" y="374904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Payback period:  under 30 days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715000" y="402336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capturing one-third of this still pays the platform 10× over.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457200" y="4480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 basis: Steph's Books DSP case study ($127K recovered) · Go HQ KPI data · Bloomberg DSP cost data (2025).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457200" y="48463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 ·  DSP Owner Platform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8229600" y="48463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BUILD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 months, three phases — usable from week 12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31720"/>
            <a:ext cx="7863840" cy="0"/>
          </a:xfrm>
          <a:prstGeom prst="line">
            <a:avLst/>
          </a:prstGeom>
          <a:noFill/>
          <a:ln w="2540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508760" y="2194560"/>
            <a:ext cx="274320" cy="27432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4173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0–3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16916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1 — Foundation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26060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0F1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MVP, used daily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2926080"/>
            <a:ext cx="2377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Amazon DSP Console, payroll, and accounting. Ship the live P&amp;L, Hours-to-Budget tracker, and Settlement &amp; Dispute module. Beta-tested in your DSP.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343400" y="2194560"/>
            <a:ext cx="274320" cy="27432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83280" y="14173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4–6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383280" y="16916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2 — Operations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383280" y="26060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0F1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wired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383280" y="2926080"/>
            <a:ext cx="2377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Mentor, Netradyne, Cortex, and fuel-card feeds. Light up Driver Hub, Fleet Health, and the Scorecard Optimizer. Daily and pre-shift alerts go live.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178040" y="2194560"/>
            <a:ext cx="274320" cy="27432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17920" y="14173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7–12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217920" y="16916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3 — Intelligence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217920" y="26060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0F1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co-pilot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217920" y="2926080"/>
            <a:ext cx="2377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churn, route-level profit forecasting, AI co-pilot. Multi-DSP roll-out — sell to other owners in your market and beyond.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57200" y="48463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 ·  DSP Owner Platform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8229600" y="48463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— THE MVP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ships in the first 90 days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SHIPS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4572000" cy="77724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892808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43000" y="178308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Live P&amp;L dashboard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143000" y="2075688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revenue, cost, margin — by route, driver, and van. Replaces the weekly spreadsheet.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57200" y="2560320"/>
            <a:ext cx="4572000" cy="77724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761488"/>
            <a:ext cx="365760" cy="3657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43000" y="265176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Hours-to-Budget tracker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1143000" y="2944368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labor efficiency vs. Amazon-compensated hours. OT alerts before drivers cross the line.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457200" y="3429000"/>
            <a:ext cx="4572000" cy="77724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630168"/>
            <a:ext cx="365760" cy="36576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143000" y="352044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Settlement &amp; dispute desk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1143000" y="3813048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settlements parsed line-by-line. Chargebacks flagged with dispute-window countdowns.</a:t>
            </a:r>
            <a:endParaRPr lang="en-US" sz="1000" dirty="0"/>
          </a:p>
        </p:txBody>
      </p:sp>
      <p:sp>
        <p:nvSpPr>
          <p:cNvPr id="17" name="Shape 12"/>
          <p:cNvSpPr/>
          <p:nvPr/>
        </p:nvSpPr>
        <p:spPr>
          <a:xfrm>
            <a:off x="5349240" y="1325880"/>
            <a:ext cx="3337560" cy="3154680"/>
          </a:xfrm>
          <a:prstGeom prst="rect">
            <a:avLst/>
          </a:prstGeom>
          <a:solidFill>
            <a:srgbClr val="0F1B3C"/>
          </a:solidFill>
          <a:ln w="12700">
            <a:solidFill>
              <a:srgbClr val="0F1B3C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5532120" y="146304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GET THERE</a:t>
            </a:r>
            <a:endParaRPr lang="en-US" sz="1000" dirty="0"/>
          </a:p>
        </p:txBody>
      </p:sp>
      <p:sp>
        <p:nvSpPr>
          <p:cNvPr id="19" name="Text 14"/>
          <p:cNvSpPr/>
          <p:nvPr/>
        </p:nvSpPr>
        <p:spPr>
          <a:xfrm>
            <a:off x="5532120" y="1828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1–2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6492240" y="182880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Read-only access set up. Pull 90 days of historical data — settlements, payroll, scorecards.</a:t>
            </a:r>
            <a:endParaRPr lang="en-US" sz="950" dirty="0"/>
          </a:p>
        </p:txBody>
      </p:sp>
      <p:sp>
        <p:nvSpPr>
          <p:cNvPr id="21" name="Text 16"/>
          <p:cNvSpPr/>
          <p:nvPr/>
        </p:nvSpPr>
        <p:spPr>
          <a:xfrm>
            <a:off x="5532120" y="24231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3–6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6492240" y="242316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data layer + Live P&amp;L. You start using it daily, even rough, to give feedback.</a:t>
            </a:r>
            <a:endParaRPr lang="en-US" sz="950" dirty="0"/>
          </a:p>
        </p:txBody>
      </p:sp>
      <p:sp>
        <p:nvSpPr>
          <p:cNvPr id="23" name="Text 18"/>
          <p:cNvSpPr/>
          <p:nvPr/>
        </p:nvSpPr>
        <p:spPr>
          <a:xfrm>
            <a:off x="5532120" y="3017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7–9</a:t>
            </a:r>
            <a:endParaRPr lang="en-US" sz="1000" dirty="0"/>
          </a:p>
        </p:txBody>
      </p:sp>
      <p:sp>
        <p:nvSpPr>
          <p:cNvPr id="24" name="Text 19"/>
          <p:cNvSpPr/>
          <p:nvPr/>
        </p:nvSpPr>
        <p:spPr>
          <a:xfrm>
            <a:off x="6492240" y="301752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Hours-to-Budget + OT alerting wired in. Cortex/payroll reconciliation goes live.</a:t>
            </a:r>
            <a:endParaRPr lang="en-US" sz="950" dirty="0"/>
          </a:p>
        </p:txBody>
      </p:sp>
      <p:sp>
        <p:nvSpPr>
          <p:cNvPr id="25" name="Text 20"/>
          <p:cNvSpPr/>
          <p:nvPr/>
        </p:nvSpPr>
        <p:spPr>
          <a:xfrm>
            <a:off x="5532120" y="36118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10–12</a:t>
            </a:r>
            <a:endParaRPr lang="en-US" sz="1000" dirty="0"/>
          </a:p>
        </p:txBody>
      </p:sp>
      <p:sp>
        <p:nvSpPr>
          <p:cNvPr id="26" name="Text 21"/>
          <p:cNvSpPr/>
          <p:nvPr/>
        </p:nvSpPr>
        <p:spPr>
          <a:xfrm>
            <a:off x="6492240" y="361188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Settlement &amp; dispute desk. We track disputes filed, $ recovered. Phase 1 done.</a:t>
            </a:r>
            <a:endParaRPr lang="en-US" sz="950" dirty="0"/>
          </a:p>
        </p:txBody>
      </p:sp>
      <p:sp>
        <p:nvSpPr>
          <p:cNvPr id="27" name="Text 22"/>
          <p:cNvSpPr/>
          <p:nvPr/>
        </p:nvSpPr>
        <p:spPr>
          <a:xfrm>
            <a:off x="457200" y="48463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 ·  DSP Owner Platform</a:t>
            </a:r>
            <a:endParaRPr lang="en-US" sz="900" dirty="0"/>
          </a:p>
        </p:txBody>
      </p:sp>
      <p:sp>
        <p:nvSpPr>
          <p:cNvPr id="28" name="Text 23"/>
          <p:cNvSpPr/>
          <p:nvPr/>
        </p:nvSpPr>
        <p:spPr>
          <a:xfrm>
            <a:off x="8229600" y="48463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GET STARTED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 need from you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4173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READ-ONLY ACCESS</a:t>
            </a:r>
            <a:endParaRPr lang="en-US" sz="11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828800"/>
            <a:ext cx="201168" cy="20116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77240" y="178308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DSP Console (scorecards, settlements, chargebacks)</a:t>
            </a:r>
            <a:endParaRPr lang="en-US" sz="11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194560"/>
            <a:ext cx="201168" cy="20116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77240" y="21488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Cortex — driver punches and route assignments</a:t>
            </a:r>
            <a:endParaRPr lang="en-US" sz="11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560320"/>
            <a:ext cx="201168" cy="20116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77240" y="251460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eDriving Mentor + Netradyne portals</a:t>
            </a:r>
            <a:endParaRPr lang="en-US" sz="110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2926080"/>
            <a:ext cx="201168" cy="201168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777240" y="288036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Payroll system (ADP / Gusto / Paychex)</a:t>
            </a:r>
            <a:endParaRPr lang="en-US" sz="110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3291840"/>
            <a:ext cx="201168" cy="201168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777240" y="32461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Fuel-card portal (WEX / AtoB / etc.)</a:t>
            </a:r>
            <a:endParaRPr lang="en-US" sz="1100" dirty="0"/>
          </a:p>
        </p:txBody>
      </p:sp>
      <p:pic>
        <p:nvPicPr>
          <p:cNvPr id="1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920" y="3657600"/>
            <a:ext cx="201168" cy="201168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777240" y="361188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QuickBooks / accounting + your insurance broker</a:t>
            </a:r>
            <a:endParaRPr lang="en-US" sz="1100" dirty="0"/>
          </a:p>
        </p:txBody>
      </p:sp>
      <p:sp>
        <p:nvSpPr>
          <p:cNvPr id="17" name="Text 9"/>
          <p:cNvSpPr/>
          <p:nvPr/>
        </p:nvSpPr>
        <p:spPr>
          <a:xfrm>
            <a:off x="4937760" y="14173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TIME (THIS IS THE KEY ONE)</a:t>
            </a:r>
            <a:endParaRPr lang="en-US" sz="1100" dirty="0"/>
          </a:p>
        </p:txBody>
      </p:sp>
      <p:sp>
        <p:nvSpPr>
          <p:cNvPr id="18" name="Shape 10"/>
          <p:cNvSpPr/>
          <p:nvPr/>
        </p:nvSpPr>
        <p:spPr>
          <a:xfrm>
            <a:off x="4937760" y="1783080"/>
            <a:ext cx="3749040" cy="77724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9" name="Shape 11"/>
          <p:cNvSpPr/>
          <p:nvPr/>
        </p:nvSpPr>
        <p:spPr>
          <a:xfrm>
            <a:off x="4937760" y="1783080"/>
            <a:ext cx="64008" cy="7772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0" name="Text 12"/>
          <p:cNvSpPr/>
          <p:nvPr/>
        </p:nvSpPr>
        <p:spPr>
          <a:xfrm>
            <a:off x="5120640" y="187452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 min, weekly</a:t>
            </a:r>
            <a:endParaRPr lang="en-US" sz="1200" dirty="0"/>
          </a:p>
        </p:txBody>
      </p:sp>
      <p:sp>
        <p:nvSpPr>
          <p:cNvPr id="21" name="Text 13"/>
          <p:cNvSpPr/>
          <p:nvPr/>
        </p:nvSpPr>
        <p:spPr>
          <a:xfrm>
            <a:off x="5120640" y="2148840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 me through what's actually broken that week. You've done every role — that knowledge is the product.</a:t>
            </a:r>
            <a:endParaRPr lang="en-US" sz="1000" dirty="0"/>
          </a:p>
        </p:txBody>
      </p:sp>
      <p:sp>
        <p:nvSpPr>
          <p:cNvPr id="22" name="Shape 14"/>
          <p:cNvSpPr/>
          <p:nvPr/>
        </p:nvSpPr>
        <p:spPr>
          <a:xfrm>
            <a:off x="4937760" y="2651760"/>
            <a:ext cx="3749040" cy="77724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3" name="Shape 15"/>
          <p:cNvSpPr/>
          <p:nvPr/>
        </p:nvSpPr>
        <p:spPr>
          <a:xfrm>
            <a:off x="4937760" y="2651760"/>
            <a:ext cx="64008" cy="7772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4" name="Text 16"/>
          <p:cNvSpPr/>
          <p:nvPr/>
        </p:nvSpPr>
        <p:spPr>
          <a:xfrm>
            <a:off x="5120640" y="274320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Beta-tester rights</a:t>
            </a:r>
            <a:endParaRPr lang="en-US" sz="1200" dirty="0"/>
          </a:p>
        </p:txBody>
      </p:sp>
      <p:sp>
        <p:nvSpPr>
          <p:cNvPr id="25" name="Text 17"/>
          <p:cNvSpPr/>
          <p:nvPr/>
        </p:nvSpPr>
        <p:spPr>
          <a:xfrm>
            <a:off x="5120640" y="3017520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get to break it, complain about it, and demand changes. We rebuild fast.</a:t>
            </a:r>
            <a:endParaRPr lang="en-US" sz="1000" dirty="0"/>
          </a:p>
        </p:txBody>
      </p:sp>
      <p:sp>
        <p:nvSpPr>
          <p:cNvPr id="26" name="Shape 18"/>
          <p:cNvSpPr/>
          <p:nvPr/>
        </p:nvSpPr>
        <p:spPr>
          <a:xfrm>
            <a:off x="4937760" y="3520440"/>
            <a:ext cx="3749040" cy="77724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7" name="Shape 19"/>
          <p:cNvSpPr/>
          <p:nvPr/>
        </p:nvSpPr>
        <p:spPr>
          <a:xfrm>
            <a:off x="4937760" y="3520440"/>
            <a:ext cx="64008" cy="7772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8" name="Text 20"/>
          <p:cNvSpPr/>
          <p:nvPr/>
        </p:nvSpPr>
        <p:spPr>
          <a:xfrm>
            <a:off x="5120640" y="361188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Honest data</a:t>
            </a:r>
            <a:endParaRPr lang="en-US" sz="1200" dirty="0"/>
          </a:p>
        </p:txBody>
      </p:sp>
      <p:sp>
        <p:nvSpPr>
          <p:cNvPr id="29" name="Text 21"/>
          <p:cNvSpPr/>
          <p:nvPr/>
        </p:nvSpPr>
        <p:spPr>
          <a:xfrm>
            <a:off x="5120640" y="3886200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platform only works if numbers are real. No vanity dashboards.</a:t>
            </a:r>
            <a:endParaRPr lang="en-US" sz="1000" dirty="0"/>
          </a:p>
        </p:txBody>
      </p:sp>
      <p:sp>
        <p:nvSpPr>
          <p:cNvPr id="30" name="Text 22"/>
          <p:cNvSpPr/>
          <p:nvPr/>
        </p:nvSpPr>
        <p:spPr>
          <a:xfrm>
            <a:off x="457200" y="48463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 ·  DSP Owner Platform</a:t>
            </a:r>
            <a:endParaRPr lang="en-US" sz="900" dirty="0"/>
          </a:p>
        </p:txBody>
      </p:sp>
      <p:sp>
        <p:nvSpPr>
          <p:cNvPr id="31" name="Text 23"/>
          <p:cNvSpPr/>
          <p:nvPr/>
        </p:nvSpPr>
        <p:spPr>
          <a:xfrm>
            <a:off x="8229600" y="48463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B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320040" cy="3200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TWO  ·  THE BUSINESS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If it works for one DSP,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57200" y="26060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i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there are 4,400 more.</a:t>
            </a:r>
            <a:endParaRPr lang="en-US" sz="4400" dirty="0"/>
          </a:p>
        </p:txBody>
      </p:sp>
      <p:sp>
        <p:nvSpPr>
          <p:cNvPr id="6" name="Shape 4"/>
          <p:cNvSpPr/>
          <p:nvPr/>
        </p:nvSpPr>
        <p:spPr>
          <a:xfrm>
            <a:off x="457200" y="3794760"/>
            <a:ext cx="1097280" cy="0"/>
          </a:xfrm>
          <a:prstGeom prst="line">
            <a:avLst/>
          </a:prstGeom>
          <a:noFill/>
          <a:ln w="25400">
            <a:solidFill>
              <a:srgbClr val="D9770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39776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sizing  ·  Pricing models  ·  Go-to-market  ·  5-year potential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SIZING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There are thousands of buyers. Most use spreadsheets.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2697480" cy="310896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581912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187452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4,400+ DSPs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85800" y="233172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Addressable Market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85800" y="269748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Amazon DSPs in the US (Amazon, 2025). Combined ~$13B+ in collective revenue. All face the same scorecard, settlement, and labor mechanics.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85800" y="3794760"/>
            <a:ext cx="548640" cy="0"/>
          </a:xfrm>
          <a:prstGeom prst="line">
            <a:avLst/>
          </a:prstGeom>
          <a:noFill/>
          <a:ln w="19050">
            <a:solidFill>
              <a:srgbClr val="D9770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388620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$13B+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685800" y="4251960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DSP revenue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319272" y="1417320"/>
            <a:ext cx="2697480" cy="310896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47872" y="1581912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547872" y="187452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~2,200 DSPs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547872" y="233172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Serviceable Available Market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547872" y="269748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Mature DSPs running 15+ routes — large enough that visibility tooling generates real ROI, but small enough they don't have an in-house data team.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547872" y="3794760"/>
            <a:ext cx="548640" cy="0"/>
          </a:xfrm>
          <a:prstGeom prst="line">
            <a:avLst/>
          </a:prstGeom>
          <a:noFill/>
          <a:ln w="19050">
            <a:solidFill>
              <a:srgbClr val="D9770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547872" y="388620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$24M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3547872" y="4251960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 potential @ $900/mo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181344" y="1417320"/>
            <a:ext cx="2697480" cy="3108960"/>
          </a:xfrm>
          <a:prstGeom prst="rect">
            <a:avLst/>
          </a:prstGeom>
          <a:solidFill>
            <a:srgbClr val="0F1B3C"/>
          </a:solidFill>
          <a:ln w="9525">
            <a:solidFill>
              <a:srgbClr val="0F1B3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9944" y="1581912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409944" y="187452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~440 DSPs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6409944" y="233172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Year-3 Beachhead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409944" y="269748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 penetration target. Reachable through Amazon Vendor Exchange, Ignite conference, owner Facebook groups, and direct referrals from beta customers.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409944" y="3794760"/>
            <a:ext cx="548640" cy="0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9944" y="388620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$4.8M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6409944" y="4251960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Year-3 ARR target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57200" y="45720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 source: Amazon DSP program (2025) · Bloomberg / Insurance Journal. Revenue assumes ~$3M average per DSP.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57200" y="48463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 ·  DSP Owner Platform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229600" y="48463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PRICING LANDSCAPE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DSPs already pay — and where Operator fits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8229600" cy="384048"/>
          </a:xfrm>
          <a:prstGeom prst="rect">
            <a:avLst/>
          </a:prstGeom>
          <a:solidFill>
            <a:srgbClr val="0F1B3C"/>
          </a:solidFill>
          <a:ln w="12700">
            <a:solidFill>
              <a:srgbClr val="0F1B3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1490472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212848" y="1490472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956048" y="1490472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784848" y="149047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Per-month equivalent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1801368"/>
            <a:ext cx="8229600" cy="384048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185623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DailyDSP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212848" y="185623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dispatch + driver SMS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956048" y="185623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$0.25–$0.50/route/wk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784848" y="18562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$30–$65/mo (30 routes)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2185416"/>
            <a:ext cx="82296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" y="22402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Hera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212848" y="22402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Scorecard parsing, scheduling, fleet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956048" y="22402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/ by quote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784848" y="22402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~$300–$500/mo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2569464"/>
            <a:ext cx="8229600" cy="384048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6928" y="262432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GroundCloud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212848" y="262432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training, telematics coaching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956048" y="262432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/ by quote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784848" y="26243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~$400–$600/mo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2953512"/>
            <a:ext cx="82296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6928" y="300837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LMD Max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212848" y="300837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 scheduling, payroll prep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956048" y="300837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784848" y="300837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~$500–$700+/mo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57200" y="3337560"/>
            <a:ext cx="8229600" cy="384048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66928" y="339242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Steph's Books / Go HQ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2212848" y="339242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Outsourced DSP bookkeeping + FP&amp;A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956048" y="339242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retainer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784848" y="33924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$1,500–$2,500/mo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57200" y="3721608"/>
            <a:ext cx="82296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377647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Virtual CFO firms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2212848" y="377647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financial advisory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956048" y="377647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Retainer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784848" y="37764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$3,000–$10,000/mo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57200" y="4197096"/>
            <a:ext cx="8229600" cy="42976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66928" y="4270248"/>
            <a:ext cx="14630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B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OPERATOR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2212848" y="4270248"/>
            <a:ext cx="25603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of the above. Live P&amp;L wired in.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4956048" y="4270248"/>
            <a:ext cx="16459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Tiered: $399–$1,499/mo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6784848" y="4270248"/>
            <a:ext cx="18288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Replaces 2–4 of the tools above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DailyDSP public pricing · DailyDSP comparison claims · Steph's Books / Go HQ DSP service pages · Pilot, Willow, Preferred CFO virtual-CFO benchmarks (2025–26).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457200" y="48463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 ·  DSP Owner Platform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8229600" y="48463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PRICING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tiers, priced for the value they unlock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2697480" cy="320040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55448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LITE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182880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DSPs · 5–15 routes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85800" y="224028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$399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2240280" y="2487168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/month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85800" y="2880360"/>
            <a:ext cx="224028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301752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P&amp;L dashboard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Hours-to-Budget tracker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Settlement &amp; dispute desk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85800" y="4114800"/>
            <a:ext cx="224028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420624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D977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$4.8K ARR / customer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319272" y="1371600"/>
            <a:ext cx="2697480" cy="3200400"/>
          </a:xfrm>
          <a:prstGeom prst="rect">
            <a:avLst/>
          </a:prstGeom>
          <a:solidFill>
            <a:srgbClr val="0F1B3C"/>
          </a:solidFill>
          <a:ln w="9525">
            <a:solidFill>
              <a:srgbClr val="0F1B3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36592" y="1207008"/>
            <a:ext cx="1280160" cy="29260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36592" y="120700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0F1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POPULAR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547872" y="155448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PRO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547872" y="182880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DSPs · 15–40 routes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547872" y="224028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$899</a:t>
            </a:r>
            <a:endParaRPr lang="en-US" sz="3800" dirty="0"/>
          </a:p>
        </p:txBody>
      </p:sp>
      <p:sp>
        <p:nvSpPr>
          <p:cNvPr id="19" name="Text 17"/>
          <p:cNvSpPr/>
          <p:nvPr/>
        </p:nvSpPr>
        <p:spPr>
          <a:xfrm>
            <a:off x="5102352" y="2487168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/month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547872" y="2880360"/>
            <a:ext cx="224028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593592" y="301752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in Lite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 Hub &amp; retention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Fleet Health &amp; fuel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Scorecard Optimizer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alerts &amp; coaching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547872" y="4114800"/>
            <a:ext cx="224028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47872" y="420624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$10.8K ARR / customer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181344" y="1371600"/>
            <a:ext cx="2697480" cy="320040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9944" y="155448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MULTI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409944" y="182880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Multi-station owners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409944" y="224028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$1,499</a:t>
            </a:r>
            <a:endParaRPr lang="en-US" sz="3200" dirty="0"/>
          </a:p>
        </p:txBody>
      </p:sp>
      <p:sp>
        <p:nvSpPr>
          <p:cNvPr id="28" name="Text 26"/>
          <p:cNvSpPr/>
          <p:nvPr/>
        </p:nvSpPr>
        <p:spPr>
          <a:xfrm>
            <a:off x="8193024" y="2487168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/mo per station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409944" y="2880360"/>
            <a:ext cx="224028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55664" y="301752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in Pro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Multi-station roll-up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support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CSM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access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409944" y="4114800"/>
            <a:ext cx="224028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09944" y="420624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D977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$18K+ ARR / customer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tiers: annual prepay = 2 months free. One-time $1,500 onboarding (data migration, system connections, training).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57200" y="48463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 ·  DSP Owner Platform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8229600" y="48463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WAYS TO MONETIZE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Mix and match — different bets, different risks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4023360" cy="150876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371600"/>
            <a:ext cx="64008" cy="150876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337560" y="1508760"/>
            <a:ext cx="1005840" cy="228600"/>
          </a:xfrm>
          <a:prstGeom prst="rect">
            <a:avLst/>
          </a:prstGeom>
          <a:solidFill>
            <a:srgbClr val="0F1B3C"/>
          </a:solidFill>
          <a:ln w="12700">
            <a:solidFill>
              <a:srgbClr val="0F1B3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337560" y="150876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58368" y="1481328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 Flat SaaS subscription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58368" y="182880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standard play. Predictable MRR, easy to model, easy to sell. Tiers based on routes / stations.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58368" y="240487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</a:t>
            </a:r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Predictable revenue, clean financials   </a:t>
            </a:r>
            <a:pPr indent="0" marL="0">
              <a:buNone/>
            </a:pPr>
            <a:r>
              <a:rPr lang="en-US" sz="9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 </a:t>
            </a:r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Slower customer acquisition early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58368" y="2615184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when targeting mid-to-large DSPs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645152" y="1371600"/>
            <a:ext cx="4023360" cy="150876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45152" y="1371600"/>
            <a:ext cx="64008" cy="150876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525512" y="1508760"/>
            <a:ext cx="1005840" cy="228600"/>
          </a:xfrm>
          <a:prstGeom prst="rect">
            <a:avLst/>
          </a:prstGeom>
          <a:solidFill>
            <a:srgbClr val="0F1B3C"/>
          </a:solidFill>
          <a:ln w="12700">
            <a:solidFill>
              <a:srgbClr val="0F1B3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525512" y="150876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ENTRY-LEVEL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846320" y="1481328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 Per-route metered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846320" y="182880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$25–$40 per route per month. Scales naturally with the customer's business. DailyDSP uses this model.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846320" y="240487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</a:t>
            </a:r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friction to start, grows w/ customer   </a:t>
            </a:r>
            <a:pPr indent="0" marL="0">
              <a:buNone/>
            </a:pPr>
            <a:r>
              <a:rPr lang="en-US" sz="9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 </a:t>
            </a:r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ARR per customer in early days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846320" y="2615184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 self-serve, small DSPs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57200" y="3044952"/>
            <a:ext cx="4023360" cy="150876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3044952"/>
            <a:ext cx="64008" cy="150876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337560" y="3182112"/>
            <a:ext cx="1005840" cy="228600"/>
          </a:xfrm>
          <a:prstGeom prst="rect">
            <a:avLst/>
          </a:prstGeom>
          <a:solidFill>
            <a:srgbClr val="0F1B3C"/>
          </a:solidFill>
          <a:ln w="12700">
            <a:solidFill>
              <a:srgbClr val="0F1B3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37560" y="3182112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OUTCOME-BASED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658368" y="315468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 Recovery share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58368" y="3502152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or low base + 15–20% of recovered chargebacks and overtime savings. Customer pays only when we save them money.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58368" y="4078224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</a:t>
            </a:r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'yes' — zero risk to customer   </a:t>
            </a:r>
            <a:pPr indent="0" marL="0">
              <a:buNone/>
            </a:pPr>
            <a:r>
              <a:rPr lang="en-US" sz="9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 </a:t>
            </a:r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Harder to forecast, needs audit trail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58368" y="4288536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Killer wedge into skeptical owners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645152" y="3044952"/>
            <a:ext cx="4023360" cy="150876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645152" y="3044952"/>
            <a:ext cx="64008" cy="150876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525512" y="3182112"/>
            <a:ext cx="1005840" cy="228600"/>
          </a:xfrm>
          <a:prstGeom prst="rect">
            <a:avLst/>
          </a:prstGeom>
          <a:solidFill>
            <a:srgbClr val="0F1B3C"/>
          </a:solidFill>
          <a:ln w="12700">
            <a:solidFill>
              <a:srgbClr val="0F1B3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525512" y="3182112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2+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4846320" y="315468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4. Platform + marketplace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846320" y="3502152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core platform. Take 5–10% margin on insurance, fuel cards, leasing, and bookkeeping referrals routed through Operator.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846320" y="4078224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</a:t>
            </a:r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Massive TAM, network effects   </a:t>
            </a:r>
            <a:pPr indent="0" marL="0">
              <a:buNone/>
            </a:pPr>
            <a:r>
              <a:rPr lang="en-US" sz="9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 </a:t>
            </a:r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scale before it pays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846320" y="4288536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Long-term moat, not a starting move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457200" y="45262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i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stack:  Flat SaaS as default  +  Recovery-share as the 'free trial' wedge  +  Marketplace as Year-2 upside.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457200" y="48463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 ·  DSP Owner Platform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8229600" y="48463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GO-TO-MARKET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we get from one DSP to four hundred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240280"/>
            <a:ext cx="7863840" cy="0"/>
          </a:xfrm>
          <a:prstGeom prst="line">
            <a:avLst/>
          </a:prstGeom>
          <a:noFill/>
          <a:ln w="2540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25880" y="2103120"/>
            <a:ext cx="274320" cy="27432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37160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0–6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1627632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Beta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251460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0F1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DSP (your friend)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2834640"/>
            <a:ext cx="2057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Free. Build product, generate the founding case study. Document every dollar saved.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4069080"/>
            <a:ext cx="2057400" cy="365760"/>
          </a:xfrm>
          <a:prstGeom prst="rect">
            <a:avLst/>
          </a:prstGeom>
          <a:solidFill>
            <a:srgbClr val="0F1B3C"/>
          </a:solidFill>
          <a:ln w="12700">
            <a:solidFill>
              <a:srgbClr val="0F1B3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406908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 + 5–10 testimonial videos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429000" y="2103120"/>
            <a:ext cx="274320" cy="27432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60320" y="137160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6–12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560320" y="1627632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Design partners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560320" y="251460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0F1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5–10 AZ / Phoenix DSPs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560320" y="2834640"/>
            <a:ext cx="2057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$299/mo charter pricing in exchange for feedback + referrals. Friend introduces. Local proof.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560320" y="4069080"/>
            <a:ext cx="2057400" cy="365760"/>
          </a:xfrm>
          <a:prstGeom prst="rect">
            <a:avLst/>
          </a:prstGeom>
          <a:solidFill>
            <a:srgbClr val="0F1B3C"/>
          </a:solidFill>
          <a:ln w="12700">
            <a:solidFill>
              <a:srgbClr val="0F1B3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06040" y="406908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paying customers, ~$36K ARR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532120" y="2103120"/>
            <a:ext cx="274320" cy="27432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63440" y="137160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2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663440" y="1627632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Regional expansion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663440" y="251460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0F1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50–100 DSPs (West)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663440" y="2834640"/>
            <a:ext cx="2057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Vendor Exchange listing. Booth at Ignite (Sept, Vegas). Owner Facebook groups. Referral program ($500/conversion).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663440" y="4069080"/>
            <a:ext cx="2057400" cy="365760"/>
          </a:xfrm>
          <a:prstGeom prst="rect">
            <a:avLst/>
          </a:prstGeom>
          <a:solidFill>
            <a:srgbClr val="0F1B3C"/>
          </a:solidFill>
          <a:ln w="12700">
            <a:solidFill>
              <a:srgbClr val="0F1B3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09160" y="406908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$600K–$1M ARR run-rate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7635240" y="2103120"/>
            <a:ext cx="274320" cy="27432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766560" y="137160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3+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766560" y="1627632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National scale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766560" y="251460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0F1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300–500 DSPs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766560" y="2834640"/>
            <a:ext cx="2057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sales team. Integrations marketplace. White-label option for accounting firms (Steph's, Go HQ).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766560" y="4069080"/>
            <a:ext cx="2057400" cy="365760"/>
          </a:xfrm>
          <a:prstGeom prst="rect">
            <a:avLst/>
          </a:prstGeom>
          <a:solidFill>
            <a:srgbClr val="0F1B3C"/>
          </a:solidFill>
          <a:ln w="12700">
            <a:solidFill>
              <a:srgbClr val="0F1B3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812280" y="406908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$3–5M ARR, profitable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Channels that actually work in this network: Amazon Vendor Exchange, Ignite conference, owner WhatsApp/Facebook groups, owner-to-owner referrals.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457200" y="48463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 ·  DSP Owner Platform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8229600" y="48463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UPSIDE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this goes if it works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325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Modeled on the recommended pricing (~$899 blended ARPU) and conservative ramp. Numbers are projections, not guarantees.</a:t>
            </a:r>
            <a:endParaRPr lang="en-US" sz="11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874520"/>
          <a:ext cx="4937760" cy="2606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5577840" y="1874520"/>
            <a:ext cx="3108960" cy="2606040"/>
          </a:xfrm>
          <a:prstGeom prst="rect">
            <a:avLst/>
          </a:prstGeom>
          <a:solidFill>
            <a:srgbClr val="0F1B3C"/>
          </a:solidFill>
          <a:ln w="12700">
            <a:solidFill>
              <a:srgbClr val="0F1B3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715000" y="201168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RAMP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715000" y="233172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Y1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126480" y="233172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858000" y="236829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Beta + AZ design partners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5715000" y="2715768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Y2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6126480" y="2715768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50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6858000" y="2752344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Ignite + Vendor Exchange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5715000" y="3099816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Y3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6126480" y="3099816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150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6858000" y="313639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sales kicks in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5715000" y="3483864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Y4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6126480" y="3483864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300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6858000" y="35204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 revenue starts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5715000" y="386791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Y5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6126480" y="3867912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500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6858000" y="390448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11% TAM penetration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Upside levers not in this model: marketplace margin (insurance, fuel, leasing), white-label deals, multi-station expansion, M&amp;A interest from Hera / GroundCloud / Amazon itself.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457200" y="48463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 ·  DSP Owner Platform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8229600" y="48463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F1B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320040" cy="3200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 ·  WHY NOW  ·  WHY US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 already run a great DSP.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645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You're flying it on instruments built for last week.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2606040"/>
            <a:ext cx="640080" cy="0"/>
          </a:xfrm>
          <a:prstGeom prst="line">
            <a:avLst/>
          </a:prstGeom>
          <a:noFill/>
          <a:ln w="25400">
            <a:solidFill>
              <a:srgbClr val="D9770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78892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Margins are tightening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3200400"/>
            <a:ext cx="2606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Insurance, fuel, and labor are all up. Amazon's metrics are stricter. Tools that worked in 2021 don't work now.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46120" y="2606040"/>
            <a:ext cx="640080" cy="0"/>
          </a:xfrm>
          <a:prstGeom prst="line">
            <a:avLst/>
          </a:prstGeom>
          <a:noFill/>
          <a:ln w="25400">
            <a:solidFill>
              <a:srgbClr val="D9770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46120" y="278892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data already exists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246120" y="3200400"/>
            <a:ext cx="2606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Mentor, Netradyne, Cortex, DSP Console, payroll, fuel cards — all there. They just don't talk to each other yet.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035040" y="2606040"/>
            <a:ext cx="640080" cy="0"/>
          </a:xfrm>
          <a:prstGeom prst="line">
            <a:avLst/>
          </a:prstGeom>
          <a:noFill/>
          <a:ln w="25400">
            <a:solidFill>
              <a:srgbClr val="D9770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035040" y="278892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If it works for you, it scales to 4,400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035040" y="3200400"/>
            <a:ext cx="2606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it for one DSP. Sell it to the network. $5M ARR potential within five years.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" y="4389120"/>
            <a:ext cx="1097280" cy="0"/>
          </a:xfrm>
          <a:prstGeom prst="line">
            <a:avLst/>
          </a:prstGeom>
          <a:noFill/>
          <a:ln w="25400">
            <a:solidFill>
              <a:srgbClr val="D9770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4526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Let's build it.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OPERATOR — DSP Software Pitch</dc:title>
  <dc:subject>PptxGenJS Presentation</dc:subject>
  <dc:creator>Pitch Deck</dc:creator>
  <cp:lastModifiedBy>Pitch Deck</cp:lastModifiedBy>
  <cp:revision>1</cp:revision>
  <dcterms:created xsi:type="dcterms:W3CDTF">2026-04-27T23:16:23Z</dcterms:created>
  <dcterms:modified xsi:type="dcterms:W3CDTF">2026-04-27T23:16:23Z</dcterms:modified>
</cp:coreProperties>
</file>